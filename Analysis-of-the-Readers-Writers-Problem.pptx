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4630400" cy="8229600"/>
  <p:notesSz cx="8229600" cy="146304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Lora" pitchFamily="2" charset="0"/>
      <p:regular r:id="rId14"/>
    </p:embeddedFont>
    <p:embeddedFont>
      <p:font typeface="Source Sans 3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42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2772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10" Type="http://schemas.openxmlformats.org/officeDocument/2006/relationships/image" Target="../media/image2.PNG"/><Relationship Id="rId4" Type="http://schemas.openxmlformats.org/officeDocument/2006/relationships/image" Target="../media/image4.png"/><Relationship Id="rId9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3132772"/>
            <a:ext cx="10615732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Analysis of the Readers-Writers Problem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932515"/>
            <a:ext cx="4582001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Advanced Operating Systems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837724" y="4713803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Members: Khelifi Ayyoub, Chaalal Djewed</a:t>
            </a:r>
            <a:endParaRPr lang="en-US" sz="18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E08F58-E4B0-B637-61F8-DC1FDBFC14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0518" y="7780768"/>
            <a:ext cx="1779882" cy="3982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01873"/>
            <a:ext cx="12571571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Problem Definition: Ensuring Data Integrity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1884640"/>
            <a:ext cx="1295495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Readers-Writers Problem is a foundational synchronization challenge in computer science, addressing how multiple threads can safely access a shared resource.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837724" y="2919889"/>
            <a:ext cx="6357818" cy="2184202"/>
          </a:xfrm>
          <a:prstGeom prst="roundRect">
            <a:avLst>
              <a:gd name="adj" fmla="val 6698"/>
            </a:avLst>
          </a:prstGeom>
          <a:solidFill>
            <a:srgbClr val="252833"/>
          </a:solidFill>
          <a:ln w="30480">
            <a:solidFill>
              <a:srgbClr val="5D606B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244" y="2919889"/>
            <a:ext cx="121920" cy="21842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98959" y="3189684"/>
            <a:ext cx="4569857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Multiple Threads, Shared Resource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98959" y="3685223"/>
            <a:ext cx="5726787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Imagine a database or a file system where numerous processes need to interact with the same data simultaneously.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7434858" y="2919889"/>
            <a:ext cx="6357818" cy="2184202"/>
          </a:xfrm>
          <a:prstGeom prst="roundRect">
            <a:avLst>
              <a:gd name="adj" fmla="val 6698"/>
            </a:avLst>
          </a:prstGeom>
          <a:solidFill>
            <a:srgbClr val="252833"/>
          </a:solidFill>
          <a:ln w="30480">
            <a:solidFill>
              <a:srgbClr val="5D606B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4378" y="2919889"/>
            <a:ext cx="121920" cy="218420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96093" y="3189684"/>
            <a:ext cx="3671173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Readers: Concurrent Access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7796093" y="3685223"/>
            <a:ext cx="5726787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Readers can access the shared resource concurrently without causing data corruption. They acquire a </a:t>
            </a:r>
            <a:r>
              <a:rPr lang="en-US" sz="185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shared lock</a:t>
            </a: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850" dirty="0"/>
          </a:p>
        </p:txBody>
      </p:sp>
      <p:sp>
        <p:nvSpPr>
          <p:cNvPr id="12" name="Shape 8"/>
          <p:cNvSpPr/>
          <p:nvPr/>
        </p:nvSpPr>
        <p:spPr>
          <a:xfrm>
            <a:off x="837724" y="5343406"/>
            <a:ext cx="6357818" cy="2184202"/>
          </a:xfrm>
          <a:prstGeom prst="roundRect">
            <a:avLst>
              <a:gd name="adj" fmla="val 6698"/>
            </a:avLst>
          </a:prstGeom>
          <a:solidFill>
            <a:srgbClr val="252833"/>
          </a:solidFill>
          <a:ln w="30480">
            <a:solidFill>
              <a:srgbClr val="5D606B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244" y="5343406"/>
            <a:ext cx="121920" cy="218420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98959" y="5613202"/>
            <a:ext cx="331601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Writers: Exclusive Access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1198959" y="6108740"/>
            <a:ext cx="572678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Writers, however, must have exclusive access to prevent data inconsistencies. They require an </a:t>
            </a:r>
            <a:r>
              <a:rPr lang="en-US" sz="185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exclusive lock</a:t>
            </a: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850" dirty="0"/>
          </a:p>
        </p:txBody>
      </p:sp>
      <p:sp>
        <p:nvSpPr>
          <p:cNvPr id="16" name="Shape 11"/>
          <p:cNvSpPr/>
          <p:nvPr/>
        </p:nvSpPr>
        <p:spPr>
          <a:xfrm>
            <a:off x="7434858" y="5343406"/>
            <a:ext cx="6357818" cy="2184202"/>
          </a:xfrm>
          <a:prstGeom prst="roundRect">
            <a:avLst>
              <a:gd name="adj" fmla="val 6698"/>
            </a:avLst>
          </a:prstGeom>
          <a:solidFill>
            <a:srgbClr val="252833"/>
          </a:solidFill>
          <a:ln w="30480">
            <a:solidFill>
              <a:srgbClr val="5D606B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4378" y="5343406"/>
            <a:ext cx="121920" cy="218420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796093" y="561320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Core Goal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7796093" y="6108740"/>
            <a:ext cx="5726787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primary objective is to maximize concurrency—allowing as many readers as possible—while strictly ensuring the integrity and consistency of the shared data.</a:t>
            </a:r>
            <a:endParaRPr lang="en-US" sz="18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7120D87-9AF4-0406-6B89-17F9A526D4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50518" y="7780768"/>
            <a:ext cx="1779882" cy="39823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202055"/>
            <a:ext cx="791087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Navigating the Key Challenges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384822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Effectively solving the Readers-Writers problem involves tackling several complex issues that arise in concurrent programming.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837724" y="3037046"/>
            <a:ext cx="4158734" cy="718066"/>
          </a:xfrm>
          <a:prstGeom prst="roundRect">
            <a:avLst>
              <a:gd name="adj" fmla="val 480052"/>
            </a:avLst>
          </a:prstGeom>
          <a:solidFill>
            <a:srgbClr val="44475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37604" y="3216592"/>
            <a:ext cx="358973" cy="35897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7039" y="399442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Race Conditions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77039" y="4489966"/>
            <a:ext cx="3680103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critical concern is what happens if a writer modifies the data precisely when a reader is attempting to access it. This can lead to </a:t>
            </a:r>
            <a:r>
              <a:rPr lang="en-US" sz="185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inconsistent reads</a:t>
            </a: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or </a:t>
            </a:r>
            <a:r>
              <a:rPr lang="en-US" sz="185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corrupted data</a:t>
            </a: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5235773" y="3037046"/>
            <a:ext cx="4158734" cy="718066"/>
          </a:xfrm>
          <a:prstGeom prst="roundRect">
            <a:avLst>
              <a:gd name="adj" fmla="val 480052"/>
            </a:avLst>
          </a:prstGeom>
          <a:solidFill>
            <a:srgbClr val="444752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35654" y="3216592"/>
            <a:ext cx="358973" cy="35897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75089" y="399442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Starvation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5475089" y="4489966"/>
            <a:ext cx="3680103" cy="229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Without proper management, some processes might never get to execute. In a </a:t>
            </a:r>
            <a:r>
              <a:rPr lang="en-US" sz="185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Reader Priority</a:t>
            </a: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system, writers could wait indefinitely. Conversely, </a:t>
            </a:r>
            <a:r>
              <a:rPr lang="en-US" sz="185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Writer Priority</a:t>
            </a: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could indefinitely block readers.</a:t>
            </a:r>
            <a:endParaRPr lang="en-US" sz="1850" dirty="0"/>
          </a:p>
        </p:txBody>
      </p:sp>
      <p:sp>
        <p:nvSpPr>
          <p:cNvPr id="12" name="Shape 8"/>
          <p:cNvSpPr/>
          <p:nvPr/>
        </p:nvSpPr>
        <p:spPr>
          <a:xfrm>
            <a:off x="9633823" y="3037046"/>
            <a:ext cx="4158853" cy="718066"/>
          </a:xfrm>
          <a:prstGeom prst="roundRect">
            <a:avLst>
              <a:gd name="adj" fmla="val 480052"/>
            </a:avLst>
          </a:prstGeom>
          <a:solidFill>
            <a:srgbClr val="444752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3703" y="3216592"/>
            <a:ext cx="358973" cy="35897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873139" y="399442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Complexity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9873139" y="4489966"/>
            <a:ext cx="3680222" cy="229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fundamental challenge lies in finding the optimal balance between maximizing system throughput (how many operations can be processed) and ensuring fairness among readers and writers.</a:t>
            </a:r>
            <a:endParaRPr lang="en-US" sz="18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B3F5DB2-CB1F-D450-5857-0047BDA0DA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50518" y="7780768"/>
            <a:ext cx="1779882" cy="3982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082397"/>
            <a:ext cx="11247001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Classical Solutions: A Comparative Analysis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265164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 analyzed three standard approaches, each with distinct trade-offs in terms of performance and fairness.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837724" y="2917388"/>
            <a:ext cx="4158734" cy="4229695"/>
          </a:xfrm>
          <a:prstGeom prst="roundRect">
            <a:avLst>
              <a:gd name="adj" fmla="val 863"/>
            </a:avLst>
          </a:prstGeom>
          <a:solidFill>
            <a:srgbClr val="44475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039" y="3156704"/>
            <a:ext cx="718066" cy="718066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74445" y="3354110"/>
            <a:ext cx="323136" cy="32313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77039" y="411408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Reader Priority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077039" y="4609624"/>
            <a:ext cx="3680103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Prioritizes reader throughput, allowing new readers to enter even if a writer is waiting. This is the </a:t>
            </a:r>
            <a:r>
              <a:rPr lang="en-US" sz="185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fastest for read-heavy workloads</a:t>
            </a: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but can lead to severe writer starvation.</a:t>
            </a:r>
            <a:endParaRPr lang="en-US" sz="1850" dirty="0"/>
          </a:p>
        </p:txBody>
      </p:sp>
      <p:sp>
        <p:nvSpPr>
          <p:cNvPr id="9" name="Shape 5"/>
          <p:cNvSpPr/>
          <p:nvPr/>
        </p:nvSpPr>
        <p:spPr>
          <a:xfrm>
            <a:off x="5235773" y="2917388"/>
            <a:ext cx="4158734" cy="4229695"/>
          </a:xfrm>
          <a:prstGeom prst="roundRect">
            <a:avLst>
              <a:gd name="adj" fmla="val 863"/>
            </a:avLst>
          </a:prstGeom>
          <a:solidFill>
            <a:srgbClr val="444752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5089" y="3156704"/>
            <a:ext cx="718066" cy="718066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72495" y="3354110"/>
            <a:ext cx="323136" cy="32313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475089" y="411408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Writer Priority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5475089" y="4609624"/>
            <a:ext cx="3680103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Prioritizes writers, ensuring they gain access quickly once active readers finish. This ensures </a:t>
            </a:r>
            <a:r>
              <a:rPr lang="en-US" sz="185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 freshness</a:t>
            </a: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but can cause readers to be blocked for extended periods.</a:t>
            </a:r>
            <a:endParaRPr lang="en-US" sz="1850" dirty="0"/>
          </a:p>
        </p:txBody>
      </p:sp>
      <p:sp>
        <p:nvSpPr>
          <p:cNvPr id="14" name="Shape 8"/>
          <p:cNvSpPr/>
          <p:nvPr/>
        </p:nvSpPr>
        <p:spPr>
          <a:xfrm>
            <a:off x="9633823" y="2917388"/>
            <a:ext cx="4158853" cy="4229695"/>
          </a:xfrm>
          <a:prstGeom prst="roundRect">
            <a:avLst>
              <a:gd name="adj" fmla="val 863"/>
            </a:avLst>
          </a:prstGeom>
          <a:solidFill>
            <a:srgbClr val="444752"/>
          </a:solidFill>
          <a:ln/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73139" y="3156704"/>
            <a:ext cx="718066" cy="718066"/>
          </a:xfrm>
          <a:prstGeom prst="rect">
            <a:avLst/>
          </a:prstGeom>
        </p:spPr>
      </p:pic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070544" y="3354110"/>
            <a:ext cx="323136" cy="323136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9873139" y="411408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Fair (FIFO)</a:t>
            </a:r>
            <a:endParaRPr lang="en-US" sz="2200" dirty="0"/>
          </a:p>
        </p:txBody>
      </p:sp>
      <p:sp>
        <p:nvSpPr>
          <p:cNvPr id="18" name="Text 10"/>
          <p:cNvSpPr/>
          <p:nvPr/>
        </p:nvSpPr>
        <p:spPr>
          <a:xfrm>
            <a:off x="9873139" y="4609624"/>
            <a:ext cx="3680222" cy="229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First-In-First-Out approach ensures that processes are granted access in the order they request it. This completely </a:t>
            </a:r>
            <a:r>
              <a:rPr lang="en-US" sz="185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eliminates starvation</a:t>
            </a: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but often results in slightly lower overall throughput due to strict ordering.</a:t>
            </a:r>
            <a:endParaRPr lang="en-US" sz="18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FE6B2D2-BCCD-4BE6-C1A2-0804E0BA8DA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850518" y="7780768"/>
            <a:ext cx="1779882" cy="39823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64381"/>
            <a:ext cx="9283541" cy="598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Adaptive Strategy: The 'Aging' Mechanism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837724" y="1769626"/>
            <a:ext cx="12954952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 overcome the limitations of classical solutions, we developed an advanced adaptive strategy incorporating an 'Aging' mechanism.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2323981"/>
            <a:ext cx="1017270" cy="12207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58353" y="2527340"/>
            <a:ext cx="2393752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Hybrid Default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2058353" y="2948583"/>
            <a:ext cx="11734324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system defaults to </a:t>
            </a:r>
            <a:r>
              <a:rPr lang="en-US" sz="160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Reader Priority</a:t>
            </a: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maximum performance, optimizing for typical read-heavy scenarios.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724" y="3544729"/>
            <a:ext cx="1017270" cy="12207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058353" y="3748088"/>
            <a:ext cx="2393752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Starvation Detection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2058353" y="4169331"/>
            <a:ext cx="11734324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critical trigger: if a writer experiences a wait time exceeding </a:t>
            </a:r>
            <a:r>
              <a:rPr lang="en-US" sz="160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2.0 seconds</a:t>
            </a: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the system identifies potential starvation.</a:t>
            </a:r>
            <a:endParaRPr lang="en-US" sz="1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724" y="4765477"/>
            <a:ext cx="1017270" cy="122074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058353" y="4968835"/>
            <a:ext cx="248459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Panic Mode Activation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2058353" y="5390078"/>
            <a:ext cx="11734324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Upon detection, the system shifts into "</a:t>
            </a:r>
            <a:r>
              <a:rPr lang="en-US" sz="160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Panic Mode</a:t>
            </a: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", enforcing a strict Writer Priority to ensure the waiting writer gains access promptly.</a:t>
            </a:r>
            <a:endParaRPr lang="en-US" sz="16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724" y="5986224"/>
            <a:ext cx="1017270" cy="147899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058353" y="6189583"/>
            <a:ext cx="2393752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Optimized Outcome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2058353" y="6610826"/>
            <a:ext cx="11734324" cy="651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dynamic approach combines the high speed of reader priority with the robust starvation safety typically found in queue-based systems.</a:t>
            </a:r>
            <a:endParaRPr lang="en-US" sz="16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9543B6A-5CAD-C054-3974-54E180F76B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50518" y="7780768"/>
            <a:ext cx="1779882" cy="3982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387673"/>
            <a:ext cx="11502747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Project Simulation: Visualizing Concurrency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570440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Our project leveraged Python with Threading and PyQt6 to create a comprehensive, interactive simulation environment.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837724" y="3312438"/>
            <a:ext cx="3160871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Simulation Features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37724" y="4023360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Real-time Visualization:</a:t>
            </a: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Clearly displays the lock states with orbiting readers and a central writer.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37724" y="4490085"/>
            <a:ext cx="1295495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Live Metrics Dashboard:</a:t>
            </a: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Provides instant feedback on critical performance indicators such as throughput and average wait times.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37724" y="5339834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Dynamic Load Injection:</a:t>
            </a: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Allows for on-the-fly adjustment of reader and writer loads to test various scenarios.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37724" y="5806559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Intuitive PyQt6 Interface:</a:t>
            </a: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Ensures ease of use and clear representation of complex concurrency behaviors.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837724" y="6458783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simulation proved invaluable for understanding the nuanced behaviors of each strategy.</a:t>
            </a:r>
            <a:endParaRPr lang="en-US" sz="18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C23C2E6-4F07-335C-F91A-1162462200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0518" y="7780768"/>
            <a:ext cx="1779882" cy="3982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873085"/>
            <a:ext cx="12954952" cy="119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Conclusion: Navigating Trade-offs for Optimal Performance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837724" y="2476738"/>
            <a:ext cx="12954952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Our analysis and implementation highlight that there is no single "best" solution to the Readers-Writers problem; rather, it's about intelligent trade-offs.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37724" y="3031093"/>
            <a:ext cx="4182666" cy="2704862"/>
          </a:xfrm>
          <a:prstGeom prst="roundRect">
            <a:avLst>
              <a:gd name="adj" fmla="val 1128"/>
            </a:avLst>
          </a:prstGeom>
          <a:solidFill>
            <a:srgbClr val="252833"/>
          </a:solidFill>
          <a:ln w="22860">
            <a:solidFill>
              <a:srgbClr val="5D606B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545" y="2931914"/>
            <a:ext cx="244078" cy="244078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5490" y="5591056"/>
            <a:ext cx="244078" cy="24407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65741" y="3359110"/>
            <a:ext cx="3060621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Nature of Concurrency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1165741" y="3780353"/>
            <a:ext cx="3526631" cy="976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True optimization means acknowledging the inherent trade-offs between performance, fairness, and complexity.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223748" y="3031093"/>
            <a:ext cx="4182785" cy="2704862"/>
          </a:xfrm>
          <a:prstGeom prst="roundRect">
            <a:avLst>
              <a:gd name="adj" fmla="val 1128"/>
            </a:avLst>
          </a:prstGeom>
          <a:solidFill>
            <a:srgbClr val="252833"/>
          </a:solidFill>
          <a:ln w="22860">
            <a:solidFill>
              <a:srgbClr val="5D606B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4569" y="2931914"/>
            <a:ext cx="244078" cy="244078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1634" y="5591056"/>
            <a:ext cx="244078" cy="24407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551765" y="3359110"/>
            <a:ext cx="267009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Fairness vs. Throughput</a:t>
            </a:r>
            <a:endParaRPr lang="en-US" sz="1850" dirty="0"/>
          </a:p>
        </p:txBody>
      </p:sp>
      <p:sp>
        <p:nvSpPr>
          <p:cNvPr id="13" name="Text 7"/>
          <p:cNvSpPr/>
          <p:nvPr/>
        </p:nvSpPr>
        <p:spPr>
          <a:xfrm>
            <a:off x="5551765" y="3780353"/>
            <a:ext cx="3526750" cy="976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While a </a:t>
            </a:r>
            <a:r>
              <a:rPr lang="en-US" sz="160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Fair (FIFO)</a:t>
            </a: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strategy guarantees no starvation, it often comes at the cost of reduced overall system throughput.</a:t>
            </a:r>
            <a:endParaRPr lang="en-US" sz="1600" dirty="0"/>
          </a:p>
        </p:txBody>
      </p:sp>
      <p:sp>
        <p:nvSpPr>
          <p:cNvPr id="14" name="Shape 8"/>
          <p:cNvSpPr/>
          <p:nvPr/>
        </p:nvSpPr>
        <p:spPr>
          <a:xfrm>
            <a:off x="9609892" y="3031093"/>
            <a:ext cx="4182785" cy="2704862"/>
          </a:xfrm>
          <a:prstGeom prst="roundRect">
            <a:avLst>
              <a:gd name="adj" fmla="val 1128"/>
            </a:avLst>
          </a:prstGeom>
          <a:solidFill>
            <a:srgbClr val="252833"/>
          </a:solidFill>
          <a:ln w="22860">
            <a:solidFill>
              <a:srgbClr val="5D606B"/>
            </a:solidFill>
            <a:prstDash val="solid"/>
          </a:ln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0713" y="2931914"/>
            <a:ext cx="244078" cy="244078"/>
          </a:xfrm>
          <a:prstGeom prst="rect">
            <a:avLst/>
          </a:prstGeom>
        </p:spPr>
      </p:pic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47777" y="5591056"/>
            <a:ext cx="244078" cy="24407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9937909" y="3359110"/>
            <a:ext cx="2393752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Adaptive Superiority</a:t>
            </a:r>
            <a:endParaRPr lang="en-US" sz="1850" dirty="0"/>
          </a:p>
        </p:txBody>
      </p:sp>
      <p:sp>
        <p:nvSpPr>
          <p:cNvPr id="18" name="Text 10"/>
          <p:cNvSpPr/>
          <p:nvPr/>
        </p:nvSpPr>
        <p:spPr>
          <a:xfrm>
            <a:off x="9937909" y="3780353"/>
            <a:ext cx="3526750" cy="1627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Our </a:t>
            </a:r>
            <a:r>
              <a:rPr lang="en-US" sz="160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Adaptive/Aging</a:t>
            </a: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strategy demonstrates that a dynamic approach can achieve the best real-world balance, combining high performance with robust starvation avoidance.</a:t>
            </a:r>
            <a:endParaRPr lang="en-US" sz="1600" dirty="0"/>
          </a:p>
        </p:txBody>
      </p:sp>
      <p:sp>
        <p:nvSpPr>
          <p:cNvPr id="19" name="Text 11"/>
          <p:cNvSpPr/>
          <p:nvPr/>
        </p:nvSpPr>
        <p:spPr>
          <a:xfrm>
            <a:off x="837724" y="6041112"/>
            <a:ext cx="4064794" cy="359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Takeaway: Context is King</a:t>
            </a:r>
            <a:endParaRPr lang="en-US" sz="2250" dirty="0"/>
          </a:p>
        </p:txBody>
      </p:sp>
      <p:sp>
        <p:nvSpPr>
          <p:cNvPr id="20" name="Text 12"/>
          <p:cNvSpPr/>
          <p:nvPr/>
        </p:nvSpPr>
        <p:spPr>
          <a:xfrm>
            <a:off x="837724" y="6705362"/>
            <a:ext cx="12954952" cy="651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optimal solution depends heavily on the specific application's requirements and workload characteristics. Adaptive strategies provide the flexibility needed for modern, dynamic systems.</a:t>
            </a:r>
            <a:endParaRPr lang="en-US" sz="16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2ED31B0-2EEF-6271-15FB-E55DC7C63F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50518" y="7780768"/>
            <a:ext cx="1779882" cy="3982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755</Words>
  <Application>Microsoft Office PowerPoint</Application>
  <PresentationFormat>Custom</PresentationFormat>
  <Paragraphs>64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Source Sans 3</vt:lpstr>
      <vt:lpstr>Lora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Ayoub</cp:lastModifiedBy>
  <cp:revision>3</cp:revision>
  <dcterms:created xsi:type="dcterms:W3CDTF">2025-12-12T16:23:40Z</dcterms:created>
  <dcterms:modified xsi:type="dcterms:W3CDTF">2025-12-12T16:37:43Z</dcterms:modified>
</cp:coreProperties>
</file>