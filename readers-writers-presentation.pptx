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Lora" pitchFamily="2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5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77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132772"/>
            <a:ext cx="1061573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 of the Readers-Writers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32515"/>
            <a:ext cx="4582001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Operating Systems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471380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Members: Khelifi Ayyoub, Chaalal Djewed</a:t>
            </a:r>
            <a:endParaRPr lang="en-US" sz="18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08F58-E4B0-B637-61F8-DC1FDBFC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1873"/>
            <a:ext cx="1257157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 Definition: Ensuring Data Integrity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84640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Readers-Writers Problem is a foundational synchronization challenge in computer science, addressing how multiple threads can safely access a shared resource.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19889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2919889"/>
            <a:ext cx="121920" cy="2184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959" y="3189684"/>
            <a:ext cx="456985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Multiple Threads, Shared Resource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98959" y="3685223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Imagine a database or a file system where numerous processes need to interact with the same data simultaneously.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34858" y="2919889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378" y="2919889"/>
            <a:ext cx="121920" cy="21842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96093" y="3189684"/>
            <a:ext cx="367117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Readers: Concurrent Access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96093" y="3685223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Readers can access the shared resource concurrently without causing data corruption. They acquire a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lock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837724" y="5343406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5343406"/>
            <a:ext cx="121920" cy="21842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8959" y="5613202"/>
            <a:ext cx="33160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Writers: Exclusive Access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98959" y="6108740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Writers, however, must have exclusive access to prevent data inconsistencies. They require an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exclusive lock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7434858" y="5343406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378" y="5343406"/>
            <a:ext cx="121920" cy="21842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96093" y="56132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Core Goal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796093" y="6108740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primary objective is to maximize concurrency—allowing as many readers as possible—while strictly ensuring the integrity and consistency of the shared data.</a:t>
            </a:r>
            <a:endParaRPr lang="en-US" sz="1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120D87-9AF4-0406-6B89-17F9A526D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02055"/>
            <a:ext cx="791087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Navigating the Key Challenges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8482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Effectively solving the Readers-Writers problem involves tackling several complex issues that arise in concurrent programming.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037046"/>
            <a:ext cx="4158734" cy="718066"/>
          </a:xfrm>
          <a:prstGeom prst="roundRect">
            <a:avLst>
              <a:gd name="adj" fmla="val 480052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7604" y="3216592"/>
            <a:ext cx="358973" cy="35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399442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Race Conditions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489966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critical concern is what happens if a writer modifies the data precisely when a reader is attempting to access it. This can lead to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inconsistent reads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corrupted data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3037046"/>
            <a:ext cx="4158734" cy="718066"/>
          </a:xfrm>
          <a:prstGeom prst="roundRect">
            <a:avLst>
              <a:gd name="adj" fmla="val 480052"/>
            </a:avLst>
          </a:prstGeom>
          <a:solidFill>
            <a:srgbClr val="4447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5654" y="3216592"/>
            <a:ext cx="358973" cy="3589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75089" y="399442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Starvation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475089" y="4489966"/>
            <a:ext cx="368010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proper management, some processes might never get to execute. In a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 Priority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system, writers could wait indefinitely. Conversely,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Writer Priority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could indefinitely block readers.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9633823" y="3037046"/>
            <a:ext cx="4158853" cy="718066"/>
          </a:xfrm>
          <a:prstGeom prst="roundRect">
            <a:avLst>
              <a:gd name="adj" fmla="val 480052"/>
            </a:avLst>
          </a:prstGeom>
          <a:solidFill>
            <a:srgbClr val="44475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3703" y="3216592"/>
            <a:ext cx="358973" cy="3589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3139" y="399442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Complexity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873139" y="4489966"/>
            <a:ext cx="3680222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fundamental challenge lies in finding the optimal balance between maximizing system throughput (how many operations can be processed) and ensuring fairness among readers and writers.</a:t>
            </a:r>
            <a:endParaRPr lang="en-US" sz="1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3F5DB2-CB1F-D450-5857-0047BDA0D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82397"/>
            <a:ext cx="1124700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Classical Solutions: A Comparative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6516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analyzed three standard approaches, each with distinct trade-offs in terms of performance and fairness.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17388"/>
            <a:ext cx="4158734" cy="4229695"/>
          </a:xfrm>
          <a:prstGeom prst="roundRect">
            <a:avLst>
              <a:gd name="adj" fmla="val 863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39" y="3156704"/>
            <a:ext cx="718066" cy="71806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4445" y="3354110"/>
            <a:ext cx="323136" cy="3231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7039" y="41140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Reader Priority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77039" y="4609624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Prioritizes reader throughput, allowing new readers to enter even if a writer is waiting. This is the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fastest for read-heavy workloads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 can lead to severe writer starvation.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5235773" y="2917388"/>
            <a:ext cx="4158734" cy="4229695"/>
          </a:xfrm>
          <a:prstGeom prst="roundRect">
            <a:avLst>
              <a:gd name="adj" fmla="val 863"/>
            </a:avLst>
          </a:prstGeom>
          <a:solidFill>
            <a:srgbClr val="44475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5089" y="3156704"/>
            <a:ext cx="718066" cy="71806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2495" y="3354110"/>
            <a:ext cx="323136" cy="3231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75089" y="41140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Writer Priority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75089" y="4609624"/>
            <a:ext cx="36801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Prioritizes writers, ensuring they gain access quickly once active readers finish. This ensures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freshness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 can cause readers to be blocked for extended periods.</a:t>
            </a:r>
            <a:endParaRPr lang="en-US" sz="1850" dirty="0"/>
          </a:p>
        </p:txBody>
      </p:sp>
      <p:sp>
        <p:nvSpPr>
          <p:cNvPr id="14" name="Shape 8"/>
          <p:cNvSpPr/>
          <p:nvPr/>
        </p:nvSpPr>
        <p:spPr>
          <a:xfrm>
            <a:off x="9633823" y="2917388"/>
            <a:ext cx="4158853" cy="4229695"/>
          </a:xfrm>
          <a:prstGeom prst="roundRect">
            <a:avLst>
              <a:gd name="adj" fmla="val 863"/>
            </a:avLst>
          </a:prstGeom>
          <a:solidFill>
            <a:srgbClr val="444752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3139" y="3156704"/>
            <a:ext cx="718066" cy="718066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70544" y="3354110"/>
            <a:ext cx="323136" cy="32313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73139" y="411408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Fair (FIFO)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73139" y="4609624"/>
            <a:ext cx="3680222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First-In-First-Out approach ensures that processes are granted access in the order they request it. This completely </a:t>
            </a: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eliminates starvation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 often results in slightly lower overall throughput due to strict ordering.</a:t>
            </a:r>
            <a:endParaRPr lang="en-US" sz="1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FE6B2D2-BCCD-4BE6-C1A2-0804E0BA8D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4381"/>
            <a:ext cx="9283541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Adaptive Strategy: The 'Aging' Mechanism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1769626"/>
            <a:ext cx="1295495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overcome the limitations of classical solutions, we developed an advanced adaptive strategy incorporating an 'Aging' mechanism.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23981"/>
            <a:ext cx="1017270" cy="1220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8353" y="2527340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Default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058353" y="2948583"/>
            <a:ext cx="1173432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defaults to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 Priority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maximum performance, optimizing for typical read-heavy scenarios.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544729"/>
            <a:ext cx="1017270" cy="12207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8353" y="374808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Starvation Detection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2058353" y="4169331"/>
            <a:ext cx="1173432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critical trigger: if a writer experiences a wait time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exceeding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r>
              <a:rPr lang="en-US" sz="160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.0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seconds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the system identifies potential starvation.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765477"/>
            <a:ext cx="1017270" cy="12207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58353" y="4968835"/>
            <a:ext cx="248459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Panic Mode Activation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2058353" y="5390078"/>
            <a:ext cx="1173432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Upon detection, the system shifts into "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Panic Mode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", enforcing a strict Writer Priority to ensure the waiting writer gains access promptly.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24" y="5986224"/>
            <a:ext cx="1017270" cy="1478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58353" y="6189583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Optimized Outcome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2058353" y="6610826"/>
            <a:ext cx="11734324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dynamic approach combines the high speed of reader priority with the robust starvation safety typically found in queue-based systems.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543B6A-5CAD-C054-3974-54E180F76B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87673"/>
            <a:ext cx="115027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Simulation: Visualizing Concurrency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7044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project leveraged Python with Threading and PyQt6 to create a comprehensive, interactive simulation environment.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312438"/>
            <a:ext cx="316087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Simulation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402336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Visualization: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Clearly displays the lock states with orbiting readers and a central writer.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490085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Metrics Dashboard: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Provides instant feedback on critical performance indicators such as throughput and average wait times.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33983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Load Injection: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Allows for on-the-fly adjustment of reader and writer loads to test various scenarios.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80655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Intuitive PyQt6 Interface: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Ensures ease of use and clear representation of complex concurrency behaviors.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645878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simulation proved invaluable for understanding the nuanced behaviors of each strategy.</a:t>
            </a:r>
            <a:endParaRPr lang="en-US" sz="1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3C2E6-4F07-335C-F91A-116246220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73085"/>
            <a:ext cx="12954952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Conclusion: Navigating Trade-offs for Optimal Performance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2476738"/>
            <a:ext cx="1295495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analysis and implementation highlight that there is no single "best" solution to the Readers-Writers problem; rather, it's about intelligent trade-offs.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031093"/>
            <a:ext cx="4182666" cy="2704862"/>
          </a:xfrm>
          <a:prstGeom prst="roundRect">
            <a:avLst>
              <a:gd name="adj" fmla="val 112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45" y="2931914"/>
            <a:ext cx="244078" cy="24407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490" y="5591056"/>
            <a:ext cx="244078" cy="2440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5741" y="3359110"/>
            <a:ext cx="30606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Nature of Concurrency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165741" y="3780353"/>
            <a:ext cx="3526631" cy="97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True optimization means acknowledging the inherent trade-offs between performance, fairness, and complexity.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223748" y="3031093"/>
            <a:ext cx="4182785" cy="2704862"/>
          </a:xfrm>
          <a:prstGeom prst="roundRect">
            <a:avLst>
              <a:gd name="adj" fmla="val 112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569" y="2931914"/>
            <a:ext cx="244078" cy="24407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634" y="5591056"/>
            <a:ext cx="244078" cy="2440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51765" y="3359110"/>
            <a:ext cx="267009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Fairness vs. Throughput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551765" y="3780353"/>
            <a:ext cx="3526750" cy="97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While a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Fair (FIFO)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strategy guarantees no starvation, it often comes at the cost of reduced overall system throughput.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9609892" y="3031093"/>
            <a:ext cx="4182785" cy="2704862"/>
          </a:xfrm>
          <a:prstGeom prst="roundRect">
            <a:avLst>
              <a:gd name="adj" fmla="val 112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713" y="2931914"/>
            <a:ext cx="244078" cy="24407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7777" y="5591056"/>
            <a:ext cx="244078" cy="24407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937909" y="3359110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Adaptive Superiority</a:t>
            </a:r>
            <a:endParaRPr lang="en-US" sz="1850" dirty="0"/>
          </a:p>
        </p:txBody>
      </p:sp>
      <p:sp>
        <p:nvSpPr>
          <p:cNvPr id="18" name="Text 10"/>
          <p:cNvSpPr/>
          <p:nvPr/>
        </p:nvSpPr>
        <p:spPr>
          <a:xfrm>
            <a:off x="9937909" y="3780353"/>
            <a:ext cx="3526750" cy="162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</a:t>
            </a:r>
            <a:r>
              <a:rPr lang="en-US" sz="1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Adaptive/Aging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strategy demonstrates that a dynamic approach can achieve the best real-world balance, combining high performance with robust starvation avoidance.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837724" y="6041112"/>
            <a:ext cx="4064794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Takeaway: Context is King</a:t>
            </a:r>
            <a:endParaRPr lang="en-US" sz="2250" dirty="0"/>
          </a:p>
        </p:txBody>
      </p:sp>
      <p:sp>
        <p:nvSpPr>
          <p:cNvPr id="20" name="Text 12"/>
          <p:cNvSpPr/>
          <p:nvPr/>
        </p:nvSpPr>
        <p:spPr>
          <a:xfrm>
            <a:off x="837724" y="6705362"/>
            <a:ext cx="12954952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optimal solution depends heavily on the specific application's requirements and workload characteristics. Adaptive strategies provide the flexibility needed for modern, dynamic systems.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ED31B0-2EEF-6271-15FB-E55DC7C63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0518" y="7780768"/>
            <a:ext cx="1779882" cy="398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755</Words>
  <Application>Microsoft Office PowerPoint</Application>
  <PresentationFormat>Custom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Lora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Ayoub</cp:lastModifiedBy>
  <cp:revision>4</cp:revision>
  <dcterms:created xsi:type="dcterms:W3CDTF">2025-12-12T16:23:40Z</dcterms:created>
  <dcterms:modified xsi:type="dcterms:W3CDTF">2025-12-12T16:45:10Z</dcterms:modified>
</cp:coreProperties>
</file>